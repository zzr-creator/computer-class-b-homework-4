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计算概论（B） · 第 4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算法分析入门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基础补齐 · 大 O 与常数优化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函数、可变 / 不可变对象、浅拷贝与深拷贝、异常处理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 / tuple / set / dict 四种容器与操作复杂度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 O 记号、常见复杂度级别、从数据范围倒推算法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常数优化：快速 IO、埃氏筛 · 调试方法与考场纪律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 明明能用，为什么会 TLE？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688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四种容器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操作复杂度不同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pop(0)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用错地方，O(n) 就悄悄变成了 O(n²)。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≤ 10 和 n ≤ 10⁶，该想一样的算法吗？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688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 O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描述增长趋势；看到数据范围就能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倒推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能用什么复杂度。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复杂度已经最优，还能更快吗？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688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常数优化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：快速 IO、少做重复计算、用内建函数——但顺序不能颠倒。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上周看了机器怎么存数据，这周开始看</a:t>
            </a: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15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选对容器、算对复杂度、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才谈得上优化。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 Python 补齐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 函数：默认 / 关键字 / 可变参数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 可变与不可变、引用传参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1.3 浅拷贝与深拷贝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1.4 异常处理、EOF 读入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2–3  容器与分析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四种容器与操作复杂度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3.1–3.3 大 O、常见级别、怎么数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3.4 从数据范围倒推算法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3.5 空间复杂度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4–5  优化与调试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4.1–4.4 快速 IO、减少重复计算、内建函数、埃氏筛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5.1–5.3 调试方法、常见错误、考场纪律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本周练习 · 思考题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基础补齐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函数、可变性、拷贝与异常——写对题解前先排掉的坑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默认参数陷阱 · 引用传参 · 浅拷贝 vs 深拷贝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函数：默认参数、关键字参数、可变参数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3785616" cy="17373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gcd(a, b):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"""辗转相除法求最大公约数。"""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b: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a, b = b, a % b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print(gcd(12, 18))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</p:spPr>
      </p:sp>
      <p:sp>
        <p:nvSpPr>
          <p:cNvPr id="10" name="Text 8"/>
          <p:cNvSpPr txBox="1"/>
          <p:nvPr/>
        </p:nvSpPr>
        <p:spPr>
          <a:xfrm>
            <a:off x="4645152" y="1051560"/>
            <a:ext cx="3968496" cy="17373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f(a, b=10, *args, **kwargs):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print(a, b, args, kwargs)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f(1)                </a:t>
            </a:r>
            <a:r>
              <a:rPr lang="en-US" sz="10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 10 () {}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f(1, 2, 3, 4, x=5)  </a:t>
            </a:r>
            <a:r>
              <a:rPr lang="en-US" sz="10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 2 (3, 4) {'x': 5}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</p:spPr>
      </p:sp>
      <p:sp>
        <p:nvSpPr>
          <p:cNvPr id="12" name="Text 10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参数怎么对应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01568"/>
            <a:ext cx="8010144" cy="10058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b=10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默认参数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，调用时可以不传。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*args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：多余的位置参数打包成元组。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**kwargs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：多余的关键字参数打包成字典。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Python 基础补齐 · 经典陷阱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默认参数是可变对象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3566160"/>
          </a:xfrm>
          <a:prstGeom prst="roundRect">
            <a:avLst>
              <a:gd name="adj" fmla="val 2051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34747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bad(x, acc=[]):         </a:t>
            </a:r>
            <a:r>
              <a:rPr lang="en-US" sz="1050" b="1" dirty="0">
                <a:solidFill>
                  <a:srgbClr val="A06A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❌ acc 只在函数定义时创建一次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acc.append(x)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acc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print(bad(1))     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[1]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print(bad(2))     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[1, 2]  —— 不是期望的 [2]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good(x, acc=None):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✅ 标准写法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acc is None: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acc = []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acc.append(x)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acc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print(good(1), good(2))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[1] [2]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FDF0EE"/>
          </a:solidFill>
        </p:spPr>
      </p:sp>
      <p:sp>
        <p:nvSpPr>
          <p:cNvPr id="10" name="Text 8"/>
          <p:cNvSpPr txBox="1"/>
          <p:nvPr/>
        </p:nvSpPr>
        <p:spPr>
          <a:xfrm>
            <a:off x="6537960" y="1097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为什么会这样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89888"/>
            <a:ext cx="2066544" cy="31089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语句只在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定义时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执行一次，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acc=[]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这个空列表只被创建一次。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之后每次调用不传 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，用的都是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列表对象。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改用 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None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作哨兵值，在函数体内按需新建。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可变与不可变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005840"/>
          <a:ext cx="8229600" cy="10058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不可变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可变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int  float  str  tuple  bool  frozenset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list  dict  set  自定义对象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函数参数传的是引用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，所以传入可变对象时，函数内的修改会影响外面：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</p:spPr>
      </p:sp>
      <p:sp>
        <p:nvSpPr>
          <p:cNvPr id="10" name="Text 7"/>
          <p:cNvSpPr txBox="1"/>
          <p:nvPr/>
        </p:nvSpPr>
        <p:spPr>
          <a:xfrm>
            <a:off x="530352" y="2377440"/>
            <a:ext cx="5614416" cy="18745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modify(lst, num):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lst.append(99)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影响调用方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num += 1       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只影响局部：int 不可变，这里是重新绑定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a, b = [1, 2], 10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modify(a, b)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print(a, b)       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[1, 2, 99] 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33172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CFE0D8"/>
          </a:solidFill>
        </p:spPr>
      </p:sp>
      <p:sp>
        <p:nvSpPr>
          <p:cNvPr id="12" name="Text 9"/>
          <p:cNvSpPr txBox="1"/>
          <p:nvPr/>
        </p:nvSpPr>
        <p:spPr>
          <a:xfrm>
            <a:off x="6537960" y="2423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记忆口诀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715768"/>
            <a:ext cx="201168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可变对象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（list/dict/set）传进函数会被“看见”修改；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不可变对象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（int/str/tuple）在函数内重新赋值，外面完全不受影响。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浅拷贝与深拷贝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20116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copy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= [[1, 2], [3, 4]]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= a              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别名：完全同一个对象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= a[:]           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浅拷贝：外层新建，内层仍共享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 = copy.deepcopy(a)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深拷贝：彻底独立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a[0][0] = 99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print(b[0][0], c[0][0], d[0][0])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99 99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</p:spPr>
      </p:sp>
      <p:sp>
        <p:nvSpPr>
          <p:cNvPr id="10" name="Text 8"/>
          <p:cNvSpPr txBox="1"/>
          <p:nvPr/>
        </p:nvSpPr>
        <p:spPr>
          <a:xfrm>
            <a:off x="5870448" y="10607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261872"/>
            <a:ext cx="2706624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99 99 1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6916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</p:spPr>
      </p:sp>
      <p:sp>
        <p:nvSpPr>
          <p:cNvPr id="13" name="Text 11"/>
          <p:cNvSpPr txBox="1"/>
          <p:nvPr/>
        </p:nvSpPr>
        <p:spPr>
          <a:xfrm>
            <a:off x="5897880" y="17830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c[0][0] 也变了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075688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a[:]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只新建了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最外层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的列表；内层的两个 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[1,2]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[3,4]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仍然是原来的对象，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都指向它们。只有 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（深拷贝）连内层也复制了一份。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</p:spPr>
      </p:sp>
      <p:sp>
        <p:nvSpPr>
          <p:cNvPr id="16" name="Text 14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做题时的实际影响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675888"/>
            <a:ext cx="79552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DP 里保存“每一层的状态”时，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dp_new = dp_old[:]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对</a:t>
            </a:r>
            <a:r>
              <a:rPr lang="en-US" sz="12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一维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数组够用，但</a:t>
            </a:r>
            <a:r>
              <a:rPr lang="en-US" sz="12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二维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数组必须写 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[row[:] for row in grid]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，否则所有行仍是同一个对象。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异常处理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26517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 = int(input())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print(10 / n)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except ValueError: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print("不是整数")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except ZeroDivisionError: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print("除零")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except Exception as e: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兜底，尽量不要只写这一条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print("其他错误:", e)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finally: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print("总会执行")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执行顺序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1389888"/>
            <a:ext cx="2706624" cy="22860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 </a:t>
            </a: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except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顺序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从上到下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匹配，命中一个就不再往下看。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finally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无论有没有异常都会执行。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except Exception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放</a:t>
            </a:r>
            <a:r>
              <a:rPr lang="en-US" sz="11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r>
              <a:rPr lang="en-US" sz="11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当兜底，不要只写这一条——会把编程错误也悄悄吞掉。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Python 基础补齐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OJ 最常用的用法：读到文件尾就结束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3785616" cy="18745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sys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line in sys.stdin: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line = line.strip()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not line: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continue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处理一行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</p:spPr>
      </p:sp>
      <p:sp>
        <p:nvSpPr>
          <p:cNvPr id="10" name="Text 8"/>
          <p:cNvSpPr txBox="1"/>
          <p:nvPr/>
        </p:nvSpPr>
        <p:spPr>
          <a:xfrm>
            <a:off x="4645152" y="1097280"/>
            <a:ext cx="3968496" cy="18745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True: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try: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 = int(input())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except EOFError: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break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print(n * 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</p:spPr>
      </p:sp>
      <p:sp>
        <p:nvSpPr>
          <p:cNvPr id="12" name="Text 10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两种写法怎么选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84448"/>
            <a:ext cx="7955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不知道有多少行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、每行独立处理：用 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line in sys.stdin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12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要按 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EOFError</a:t>
            </a:r>
            <a:r>
              <a:rPr lang="en-US" sz="12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精确控制退出时机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（比如读到 -1 停止之外还想处理别的异常）：用 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True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+ 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try/except EOFError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。两者在 OJ 上都很常见。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四种容器与它们的代价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本周最重要的一张表：list 的 in / pop(0) 是 O(n)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 · tuple · set · dict 的选型与操作复杂度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选型表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37160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容器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可变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可重复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典型用途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list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序列、栈、动态数组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tuple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不变的记录、可作字典键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set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否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去重、判存在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dict</a:t>
                      </a:r>
                      <a:endParaRPr lang="en-US" sz="13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插入序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是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键不重复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映射、计数</a:t>
                      </a:r>
                      <a:endParaRPr lang="en-US" sz="1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</p:spPr>
      </p:sp>
      <p:sp>
        <p:nvSpPr>
          <p:cNvPr id="9" name="Text 6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一句话选型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13048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要下标、要顺序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list；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固定不变、想当字典键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tuple；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只关心“有没有”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set；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要映射关系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dict。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操作复杂度（必须背下来）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457200" y="1005840"/>
          <a:ext cx="8229600" cy="2798064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list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set / dict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按下标取 a[i]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O(1)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末尾追加 append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均摊 O(1)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末尾弹出 pop()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O(1)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头部插入 insert(0,x)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⚠️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头部弹出 pop(0)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⚠️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判存在 x in c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⚠️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O(1)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插入 / 删除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O(1)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 log n)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—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这张表是本周最重要的内容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绝大多数“算法对但 TLE”的代码，死因就是把 </a:t>
            </a: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用在了 list 上，或者用 </a:t>
            </a: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pop(0)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当队列。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 · 实测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 的 in 与 set 的 in：差多少？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5603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time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200000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 = list(range(n))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lst, st = data, set(data)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t0 = time.time()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sum(1 for x in range(0, n, 1000) if x in lst)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list 的 in：O(n) 每次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t1 = time.time()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sum(1 for x in range(0, n, 1000) if x in st)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set 的 in：O(1) 每次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t2 = time.time()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print(f"list in: {t1 - t0:.4f}s   set in: {t2 - t1:.6f}s")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</p:spPr>
      </p:sp>
      <p:sp>
        <p:nvSpPr>
          <p:cNvPr id="10" name="Text 8"/>
          <p:cNvSpPr txBox="1"/>
          <p:nvPr/>
        </p:nvSpPr>
        <p:spPr>
          <a:xfrm>
            <a:off x="566928" y="38496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50792"/>
            <a:ext cx="8010144" cy="192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 in: 0.6023s   set in: 0.000122s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典型结果：list in 约 0.6s，set in 约 0.0001s —— 相差</a:t>
            </a:r>
            <a:r>
              <a:rPr lang="en-US" sz="1100" b="1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三个数量级</a:t>
            </a:r>
            <a:r>
              <a:rPr lang="en-US" sz="11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需要队列时用 deque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4974336" cy="21945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collections import deque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 = deque([1, 2, 3])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q.append(4)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右进 O(1)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q.appendleft(0)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左进 O(1)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q.popleft()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左出 O(1)  —— 这是 list.pop(0) 的正确替代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q.pop()    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右出 O(1)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print(q)   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deque([1, 2, 3])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5897880" y="11430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 list.pop(0) 慢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1435608"/>
            <a:ext cx="26517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 底层是</a:t>
            </a:r>
            <a:r>
              <a:rPr lang="en-US" sz="11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连续数组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，弹出头部后所有元素要整体前移一位——O(n)。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deque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底层是</a:t>
            </a:r>
            <a:r>
              <a:rPr lang="en-US" sz="11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双端链表式的块结构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，两端操作都是 O(1)。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</p:spPr>
      </p:sp>
      <p:sp>
        <p:nvSpPr>
          <p:cNvPr id="13" name="Text 11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12 周会用到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04488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 BFS 时，如果拿 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list.pop(0)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当队列，会把本该 O(V+E) 的算法拖成 O(V²)。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计数与分组的标准写法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5146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collections import Counter, defaultdict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words = "the quick brown fox jumps over the lazy dog the end".split()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cnt = Counter(words)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print(cnt['the'])        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print(cnt.most_common(2))          </a:t>
            </a:r>
            <a:r>
              <a:rPr lang="en-US" sz="10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[('the', 3), ('quick', 1)]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groups = defaultdict(list)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w in words: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groups[len(w)].append(w)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print(dict(sorted(groups.items())))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</p:spPr>
      </p:sp>
      <p:sp>
        <p:nvSpPr>
          <p:cNvPr id="10" name="Text 8"/>
          <p:cNvSpPr txBox="1"/>
          <p:nvPr/>
        </p:nvSpPr>
        <p:spPr>
          <a:xfrm>
            <a:off x="566928" y="37581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959352"/>
            <a:ext cx="8010144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[('the', 3), ('quick', 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{3: ['the', 'fox', 'the', 'dog', 'the', 'end'], 4: ['over', 'lazy'], 5: ['quick', 'brown', 'jumps']}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四种容器 · 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Counter 为什么快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O(n) vs O(n²)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Counter(words)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一遍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O(n) 完成统计；而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[lst.count(x) for x in set(lst)]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对每个不同元素都要重新扫一遍列表，整体是 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O(n²)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。数据量一大，差距立刻显现。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</p:spPr>
      </p:sp>
      <p:sp>
        <p:nvSpPr>
          <p:cNvPr id="11" name="Text 9"/>
          <p:cNvSpPr txBox="1"/>
          <p:nvPr/>
        </p:nvSpPr>
        <p:spPr>
          <a:xfrm>
            <a:off x="594360" y="256032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defaultdict 省的那一行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852928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defaultdict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就要写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len(w) not in groups: groups[len(w)] = []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defaultdict(list)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让「键不存在时自动给一个默认值」这件事对每次访问都自动发生。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算法分析：这段代码够快吗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 O 记号 · 常见复杂度级别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从数据范围倒推算法 · 空间复杂度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 O 记号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 O 描述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输入规模增长时，运行时间怎样增长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，忽略常数因子与低阶项：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D3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3n² + 100n + 500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71907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</p:spPr>
      </p:sp>
      <p:sp>
        <p:nvSpPr>
          <p:cNvPr id="12" name="Text 10"/>
          <p:cNvSpPr txBox="1"/>
          <p:nvPr/>
        </p:nvSpPr>
        <p:spPr>
          <a:xfrm>
            <a:off x="4572000" y="1719072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O(n²)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5544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最高阶项决定量级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2"/>
          </a:solidFill>
        </p:spPr>
      </p:sp>
      <p:sp>
        <p:nvSpPr>
          <p:cNvPr id="15" name="Text 13"/>
          <p:cNvSpPr txBox="1"/>
          <p:nvPr/>
        </p:nvSpPr>
        <p:spPr>
          <a:xfrm>
            <a:off x="685800" y="242316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D3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42316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2587752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1E3D34"/>
          </a:solidFill>
        </p:spPr>
      </p:sp>
      <p:sp>
        <p:nvSpPr>
          <p:cNvPr id="18" name="Text 16"/>
          <p:cNvSpPr txBox="1"/>
          <p:nvPr/>
        </p:nvSpPr>
        <p:spPr>
          <a:xfrm>
            <a:off x="4572000" y="2587752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24231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即使常数很大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</p:spPr>
      </p:sp>
      <p:sp>
        <p:nvSpPr>
          <p:cNvPr id="21" name="Text 19"/>
          <p:cNvSpPr txBox="1"/>
          <p:nvPr/>
        </p:nvSpPr>
        <p:spPr>
          <a:xfrm>
            <a:off x="594360" y="347472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为什么忽略常数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67328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足够大时，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量级压倒一切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。n = 10⁶ 时，O(n) 的算法（10⁶ 步）比 O(n²) 的算法（10¹² 步）快一百万倍——常数是 100 还是 1 无关紧要。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常见复杂度级别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051560"/>
          <a:ext cx="8229600" cy="3218688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2103120"/>
                <a:gridCol w="3108960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n=10⁶ 时约需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典型算法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O(1)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下标访问、哈希查找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O(log n)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二分查找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线性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一遍扫描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 log n)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线性对数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2×10⁷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排序、分治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O(n²)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10¹² 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双重循环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O(2ⁿ)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天文数字 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枚举子集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O(n!)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阶乘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天文数字 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全排列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增长速度的直观感受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6517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运行时间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^            2^n    n^2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    |    /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    |   /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    |  /          n log 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    | /        /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    |/     /          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   /|  /      ------------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       /  /--------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|  --------------------------  log n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+-----------------------------------&gt; 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 n，五条曲线在图上的高度差可以是几个数量级——这就是为什么「算法选对了」比「代码写快了」重要得多。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怎么数（1/2）：单层与两重循环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5614416" cy="301752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O(1)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a[0] + a[-1]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O(n)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= 0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v in a: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 += v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O(n^2)：两重循环，内层次数与 n 同阶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j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pass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O(n^2)：注意这个也是 n^2/2 ~ O(n^2)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j in range(i, 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6537960" y="1143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435608"/>
            <a:ext cx="2066544" cy="26517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循环嵌套几层，通常就是 n 的几次方。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range(i, n)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这种“三角形”循环，总次数约 n²/2，仍是 </a:t>
            </a:r>
            <a:r>
              <a:rPr lang="en-US" sz="11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O(n²)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怎么数（2/2）：排序与二分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5614416" cy="18288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O(n log n)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a.sort()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O(log n)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lo, hi = 0, n - 1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lo &lt;= hi: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mid = (lo + hi) // 2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...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05156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6537960" y="1143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口诀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435608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每次循环把规模</a:t>
            </a:r>
            <a:r>
              <a:rPr lang="en-US" sz="11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减半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（如二分查找），需要的步数是 </a:t>
            </a:r>
            <a:r>
              <a:rPr lang="en-US" sz="11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O(log n)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——这是唯一一种“循环次数不随 n 线性增长”的常见模式。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</p:spPr>
      </p:sp>
      <p:sp>
        <p:nvSpPr>
          <p:cNvPr id="13" name="Text 11"/>
          <p:cNvSpPr txBox="1"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sort() 为什么是 O(n log 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538728"/>
            <a:ext cx="79552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list.sort()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用的 Timsort，是归并排序与插入排序的混合，比较次数的下界就是 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O(n log n)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——这是基于比较的排序算法能达到的最优复杂度。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隐藏的复杂度——最容易漏的一种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16002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x in lst:            </a:t>
            </a:r>
            <a:r>
              <a:rPr lang="en-US" sz="1100" b="1" dirty="0">
                <a:solidFill>
                  <a:srgbClr val="A06A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&lt;- 这一行是 O(n)，整体 O(n^2)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...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 = s + str(i)          </a:t>
            </a:r>
            <a:r>
              <a:rPr lang="en-US" sz="1100" b="1" dirty="0">
                <a:solidFill>
                  <a:srgbClr val="A06A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&lt;- 字符串拼接每次 O(len)，整体 O(n^2)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正确写法：out.append(str(i))  最后 ''.join(out)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</p:spPr>
      </p:sp>
      <p:sp>
        <p:nvSpPr>
          <p:cNvPr id="10" name="Text 8"/>
          <p:cNvSpPr txBox="1"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为什么容易漏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64408"/>
            <a:ext cx="795528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外层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range(n)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一眼看是 O(n)，但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循环体里藏着一次 O(n) 的操作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查列表、拼接长字符串），乘起来就是 O(n²)。审查复杂度时要看循环体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每一行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的代价，不能只数循环层数。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从数据范围倒推算法（考场上最实用的一招）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OJ 的机器大约每秒能执行 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10⁷–10⁸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次基本操作。看到 n 就能倒推该用什么算法：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457200" y="1371600"/>
          <a:ext cx="8229600" cy="2487168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429768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的范围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可接受的复杂度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该想什么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≤ 10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O(n!) / O(2ⁿ·n)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全排列、暴力搜索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≤ 20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O(2ⁿ)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枚举子集、状压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≤ 100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O(n³)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Floyd、区间 DP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≤ 1000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O(n²)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二维 DP、暴力两重循环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≤ 10⁵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 log n)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排序、二分、堆、优先队列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≤ 10⁶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O(n)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一遍扫描、双指针、前缀和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 ≥ 10⁸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O(log n) / O(1)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数学公式、快速幂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</p:spPr>
      </p:sp>
      <p:sp>
        <p:nvSpPr>
          <p:cNvPr id="10" name="Text 7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考场流程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读完题先看数据范围 → 定复杂度上限 → 再想算法。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反过来做（先想算法再看范围）会浪费大量时间在注定 TLE 的思路上。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算法分析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空间复杂度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同样用大 O，衡量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额外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内存。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</p:spPr>
      </p:sp>
      <p:sp>
        <p:nvSpPr>
          <p:cNvPr id="9" name="Text 7"/>
          <p:cNvSpPr txBox="1"/>
          <p:nvPr/>
        </p:nvSpPr>
        <p:spPr>
          <a:xfrm>
            <a:off x="594360" y="15544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一个经验数字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47088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的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在列表里约占 8 字节指针 + 28 字节对象：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10⁶ 个整数的列表约 40 MB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</p:spPr>
      </p:sp>
      <p:sp>
        <p:nvSpPr>
          <p:cNvPr id="12" name="Text 10"/>
          <p:cNvSpPr txBox="1"/>
          <p:nvPr/>
        </p:nvSpPr>
        <p:spPr>
          <a:xfrm>
            <a:off x="594360" y="260604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 OJ 限制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898648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OJ 内存限制常见 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64–256 MB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，所以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10⁷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的一维数组还行；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10⁴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的二维数组（10⁸ 个元素）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必然 MLE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常数优化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复杂度对了但还是超时，才轮到优化常数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 IO · 少做重复计算 · 内建函数 · 埃氏筛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快速输入输出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13716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sys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 = sys.stdin.readline     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大量行输入时提速明显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 = sys.stdin.read().split()  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一次读完，最快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sys.stdout.write('\n'.join(out) + '\n')   </a:t>
            </a: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批量输出，比循环 print 快很多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594360" y="274320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常数优化的第一顺位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035808"/>
            <a:ext cx="79552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输入输出是最容易的优化点：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每次调用都有系统调用开销，循环几万次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本身就可能超时。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批量读、批量写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几乎是无成本的改动。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0EE"/>
          </a:solidFill>
        </p:spPr>
      </p:sp>
      <p:sp>
        <p:nvSpPr>
          <p:cNvPr id="13" name="Text 11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小心这个坑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133088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sys.stdin.readline()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保留行尾换行符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，用于字符串比较时记得 </a:t>
            </a:r>
            <a:r>
              <a:rPr lang="en-US" sz="12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.strip()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少做重复计算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097280"/>
            <a:ext cx="8083296" cy="246888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慢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range(len(a)):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j in range(len(a)):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...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快：把 len 提到循环外，把属性查找绑成局部变量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len(a)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append = res.append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i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j in range(n):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append(i * j)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为什么有效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87368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len(a)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res.append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这类属性查找每次都要重新解析一次；提到循环外只算一次，在千万级循环里能省下明显的时间——但</a:t>
            </a:r>
            <a:r>
              <a:rPr lang="en-US" sz="12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改变不了复杂度</a:t>
            </a:r>
            <a:r>
              <a:rPr lang="en-US" sz="12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，只是降低常数。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用内建函数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</p:spPr>
      </p:sp>
      <p:sp>
        <p:nvSpPr>
          <p:cNvPr id="8" name="Text 6"/>
          <p:cNvSpPr txBox="1"/>
          <p:nvPr/>
        </p:nvSpPr>
        <p:spPr>
          <a:xfrm>
            <a:off x="530352" y="1143000"/>
            <a:ext cx="8083296" cy="13716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= sum(a)                     </a:t>
            </a:r>
            <a:r>
              <a:rPr lang="en-US" sz="12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快于 for 累加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 = max(a)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= sorted(a)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= list(map(int, line.split()))   </a:t>
            </a:r>
            <a:r>
              <a:rPr lang="en-US" sz="12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快于 [int(x) for x in line.split()]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</p:spPr>
      </p:sp>
      <p:sp>
        <p:nvSpPr>
          <p:cNvPr id="10" name="Text 8"/>
          <p:cNvSpPr txBox="1"/>
          <p:nvPr/>
        </p:nvSpPr>
        <p:spPr>
          <a:xfrm>
            <a:off x="594360" y="283464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为什么快一个量级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127248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内建函数是用 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实现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的，跳过了 Python 字节码解释器逐条执行的开销。能用内建函数替代显式 Python 循环时，优先用内建函数。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 · 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埃拉托色尼筛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判素数的朴素做法是 O(√n)，一次查询没问题；但</a:t>
            </a:r>
            <a:r>
              <a:rPr lang="en-US" sz="12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要判很多个数</a:t>
            </a:r>
            <a:r>
              <a:rPr lang="en-US" sz="12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时就该预处理：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8083296" cy="26517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sieve(limit):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"""返回长度 limit+1 的布尔数组。O(n log log n)。"""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is_prime = [True] * (limit + 1)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is_prime[0] = is_prime[1] = False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 = 2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i * i &lt;= limit: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is_prime[i]: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for j in range(i * i, limit + 1, i):   </a:t>
            </a:r>
            <a:r>
              <a:rPr lang="en-US" sz="10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从 i*i 开始，更小因子已筛过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is_prime[j] = False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 += 1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is_prime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primes = sieve(100)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print([i for i, p in enumerate(primes) if p])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B2B24"/>
          </a:solidFill>
        </p:spPr>
      </p:sp>
      <p:sp>
        <p:nvSpPr>
          <p:cNvPr id="11" name="Text 9"/>
          <p:cNvSpPr txBox="1"/>
          <p:nvPr/>
        </p:nvSpPr>
        <p:spPr>
          <a:xfrm>
            <a:off x="566928" y="430682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507992"/>
            <a:ext cx="8010144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[2, 3, 5, 7, 11, 13, 17, 19, 23, 29, 31, 37, 41, 43, 47, 53, 59, 61, 67, 71, 73, 79, 83, 89, 97]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 · 应用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经典应用：T-primes（恰好 3 个约数的数）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一个数恰有 3 个约数 ⟺ 它是</a:t>
            </a: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某个素数的平方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265176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LIMIT = 10 ** 6                      </a:t>
            </a:r>
            <a:r>
              <a:rPr lang="en-US" sz="1000" dirty="0">
                <a:solidFill>
                  <a:srgbClr val="7C8F8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sqrt(10^12)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is_prime = sieve(LIMIT)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is_tprime(x):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 = int(x ** 0.5)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</a:t>
            </a:r>
            <a:r>
              <a:rPr lang="en-US" sz="1000" b="1" dirty="0">
                <a:solidFill>
                  <a:srgbClr val="A06A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浮点开方在边界可能差 1，向两侧各校正一次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r * r &gt; x: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 -= 1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(r + 1) * (r + 1) &lt;= x: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 += 1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 * r == x and r &lt;= LIMIT and is_prime[r]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print([x for x in [1, 4, 9, 12, 16, 25, 36, 49] if is_tprime(x)])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B2B24"/>
          </a:solidFill>
        </p:spPr>
      </p:sp>
      <p:sp>
        <p:nvSpPr>
          <p:cNvPr id="11" name="Text 9"/>
          <p:cNvSpPr txBox="1"/>
          <p:nvPr/>
        </p:nvSpPr>
        <p:spPr>
          <a:xfrm>
            <a:off x="566928" y="42611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62272"/>
            <a:ext cx="8010144" cy="100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[4, 9, 25, 49]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 · 易错点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两行 while 校正在纠正什么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</p:spPr>
      </p:sp>
      <p:sp>
        <p:nvSpPr>
          <p:cNvPr id="8" name="Text 6"/>
          <p:cNvSpPr txBox="1"/>
          <p:nvPr/>
        </p:nvSpPr>
        <p:spPr>
          <a:xfrm>
            <a:off x="594360" y="118872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这是本题最常见的 WA 来源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481328"/>
            <a:ext cx="79552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int(x ** 0.5)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对大整数会因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浮点误差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算错 1——这就是第 3 周「浮点数不可靠」的直接后果：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** 0.5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是用 IEEE 754 双精度算的，尾数只有 52 位，大数开方可能有 ±1 的误差。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</p:spPr>
      </p:sp>
      <p:sp>
        <p:nvSpPr>
          <p:cNvPr id="11" name="Text 9"/>
          <p:cNvSpPr txBox="1"/>
          <p:nvPr/>
        </p:nvSpPr>
        <p:spPr>
          <a:xfrm>
            <a:off x="594360" y="283464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怎么修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127248"/>
            <a:ext cx="7955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算出近似根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后，用</a:t>
            </a:r>
            <a:r>
              <a:rPr lang="en-US" sz="135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纯整数运算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r*r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与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比较，向两侧各校正一次，保证最终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是真正满足 </a:t>
            </a:r>
            <a:r>
              <a:rPr lang="en-US" sz="13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r*r == x</a:t>
            </a:r>
            <a:r>
              <a:rPr lang="en-US" sz="13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的整数——彻底绕开浮点误差。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常数优化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E03143 验证“歌德巴赫猜想”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http://cs101.openjudge.cn/practice/03143/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1F4F2"/>
          </a:solidFill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1371600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is_prime = sieve(10000)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 = int(input())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a in range(2, n // 2 + 1):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is_prime[a] and is_prime[n - a]: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print(a, n - 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6E0"/>
          </a:solidFill>
        </p:spPr>
      </p:sp>
      <p:sp>
        <p:nvSpPr>
          <p:cNvPr id="11" name="Text 9"/>
          <p:cNvSpPr txBox="1"/>
          <p:nvPr/>
        </p:nvSpPr>
        <p:spPr>
          <a:xfrm>
            <a:off x="594360" y="310896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0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要点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01568"/>
            <a:ext cx="7955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猜想内容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：任一大于 2 的偶数都能写成两个素数之和。先用埃氏筛预处理，再从小到大枚举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，第一次找到 </a:t>
            </a:r>
            <a:r>
              <a:rPr lang="en-US" sz="130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is_prime[a] and is_prime[n-a]</a:t>
            </a:r>
            <a:r>
              <a:rPr lang="en-US" sz="130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就是字典序最小的一组。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读错误信息 · 造最小复现输入 · 打印中间状态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通用方法 · 常见错误 · 三条考场纪律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通用方法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98755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读错误信息的最后一行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96012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它告诉你错误类型和位置。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2" name="Text 10"/>
          <p:cNvSpPr txBox="1"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078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构造最小复现输入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673352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把出错的输入砍到最小仍能复现。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6" name="Text 14"/>
          <p:cNvSpPr txBox="1"/>
          <p:nvPr/>
        </p:nvSpPr>
        <p:spPr>
          <a:xfrm>
            <a:off x="457200" y="24323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414016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打印中间状态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386584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print(f"i={i} dp={dp}", file=sys.stderr)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——写 stderr 不会污染 OJ 输出。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20" name="Text 18"/>
          <p:cNvSpPr txBox="1"/>
          <p:nvPr/>
        </p:nvSpPr>
        <p:spPr>
          <a:xfrm>
            <a:off x="457200" y="31455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127248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用调试器单步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099816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PyCharm 打断点比 print 快得多。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24" name="Text 22"/>
          <p:cNvSpPr txBox="1"/>
          <p:nvPr/>
        </p:nvSpPr>
        <p:spPr>
          <a:xfrm>
            <a:off x="457200" y="38587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84048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对拍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813048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写一个暴力解，随机造数据，比较两者输出。第 16 周复习时会用到。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常见错误与对策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/>
        </p:nvGraphicFramePr>
        <p:xfrm>
          <a:off x="457200" y="1097280"/>
          <a:ext cx="8229600" cy="288036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539496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OJ 反馈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常见原因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WA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答案错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边界（n=0/1）、读题漏条件、输出格式、精度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TLE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超时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复杂度过高、</a:t>
                      </a: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in</a:t>
                      </a: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 用在 list 上、</a:t>
                      </a:r>
                      <a:r>
                        <a:rPr lang="en-US" sz="1250" b="1" dirty="0">
                          <a:solidFill>
                            <a:srgbClr val="3E7C6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pop(0)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MLE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超内存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开了过大的数组、递归过深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运行错误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下标越界、除零、递归爆栈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PE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格式错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多余空格 / 换行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CE</a:t>
                      </a:r>
                      <a:endParaRPr lang="en-US" sz="125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编译错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语法错误</a:t>
                      </a:r>
                      <a:endParaRPr lang="en-US" sz="12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调试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三条考场纪律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2"/>
          </a:solidFill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8308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样例过了不等于对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至少再手造一组边界数据（n=1、全相同、最大值）。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2"/>
          </a:solidFill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8308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TLE 先看复杂度，别急着调常数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5176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数量级不对，怎么优化常数都没用。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2"/>
          </a:solidFill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83080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卡住 15 分钟就换题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5176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回来时往往一眼看出问题。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本周练习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457200" y="960120"/>
          <a:ext cx="8229600" cy="329184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1737360"/>
                <a:gridCol w="3291840"/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#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平台 / 编号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多项式时间复杂度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E23563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字符串解析、复杂度概念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验证“歌德巴赫猜想”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E03143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素数筛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生日相同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E02724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字典分组、排序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与 7 无关的数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02701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循环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E23564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2050 年成绩计算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E18176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模拟、格式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词典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E02804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字典查询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8（选做）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最大公约数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03248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辗转相除、递归预热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7083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 开头与纯数字编号：cs101.openjudge.cn。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E7C6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</p:spPr>
      </p:sp>
      <p:sp>
        <p:nvSpPr>
          <p:cNvPr id="8" name="Shape 6"/>
          <p:cNvSpPr/>
          <p:nvPr/>
        </p:nvSpPr>
        <p:spPr>
          <a:xfrm>
            <a:off x="621792" y="1143000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9" name="Text 7"/>
          <p:cNvSpPr txBox="1"/>
          <p:nvPr/>
        </p:nvSpPr>
        <p:spPr>
          <a:xfrm>
            <a:off x="621792" y="1143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143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筛法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2763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为什么埃氏筛的内层循环从 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 * i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开始而不是 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* i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</p:spPr>
      </p:sp>
      <p:sp>
        <p:nvSpPr>
          <p:cNvPr id="13" name="Shape 11"/>
          <p:cNvSpPr/>
          <p:nvPr/>
        </p:nvSpPr>
        <p:spPr>
          <a:xfrm>
            <a:off x="4828032" y="1143000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4" name="Text 12"/>
          <p:cNvSpPr txBox="1"/>
          <p:nvPr/>
        </p:nvSpPr>
        <p:spPr>
          <a:xfrm>
            <a:off x="4828032" y="11430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143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2763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= a + [x]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和 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a.append(x)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的复杂度分别是多少？在循环里用前者会发生什么？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</p:spPr>
      </p:sp>
      <p:sp>
        <p:nvSpPr>
          <p:cNvPr id="18" name="Shape 16"/>
          <p:cNvSpPr/>
          <p:nvPr/>
        </p:nvSpPr>
        <p:spPr>
          <a:xfrm>
            <a:off x="621792" y="2971800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19" name="Text 17"/>
          <p:cNvSpPr txBox="1"/>
          <p:nvPr/>
        </p:nvSpPr>
        <p:spPr>
          <a:xfrm>
            <a:off x="62179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可行性判断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45643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= 10⁵、时限 1 秒，下列哪些复杂度可行：O(n²)、O(n√n)、O(n log n)、O(n log²n)？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</p:spPr>
      </p:sp>
      <p:sp>
        <p:nvSpPr>
          <p:cNvPr id="23" name="Shape 21"/>
          <p:cNvSpPr/>
          <p:nvPr/>
        </p:nvSpPr>
        <p:spPr>
          <a:xfrm>
            <a:off x="4828032" y="2971800"/>
            <a:ext cx="365760" cy="365760"/>
          </a:xfrm>
          <a:prstGeom prst="ellipse">
            <a:avLst/>
          </a:prstGeom>
          <a:solidFill>
            <a:srgbClr val="1E3D34"/>
          </a:solidFill>
        </p:spPr>
      </p:sp>
      <p:sp>
        <p:nvSpPr>
          <p:cNvPr id="24" name="Text 22"/>
          <p:cNvSpPr txBox="1"/>
          <p:nvPr/>
        </p:nvSpPr>
        <p:spPr>
          <a:xfrm>
            <a:off x="4828032" y="2971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971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实测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456432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time.time()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实测：把 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in lst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换成 </a:t>
            </a:r>
            <a:r>
              <a:rPr lang="en-US" sz="1150" b="1" dirty="0">
                <a:solidFill>
                  <a:srgbClr val="3E7C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in set(lst)</a:t>
            </a:r>
            <a:r>
              <a:rPr lang="en-US" sz="1150" dirty="0">
                <a:solidFill>
                  <a:srgbClr val="2B2B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（注意 set 要在循环外建），加速比是多少？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可变默认参数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默认参数别用可变对象；二维结构拷贝要用 </a:t>
            </a:r>
            <a:r>
              <a:rPr lang="en-US" sz="1200" b="1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[row[:] for row in grid]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容器复杂度表要背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list 的 </a:t>
            </a:r>
            <a:r>
              <a:rPr lang="en-US" sz="1200" b="1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</a:t>
            </a:r>
            <a:r>
              <a:rPr lang="en-US" sz="1200" b="1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pop(0)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是 O(n)，set / dict 的 </a:t>
            </a:r>
            <a:r>
              <a:rPr lang="en-US" sz="1200" b="1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是 O(1)，队列用 </a:t>
            </a:r>
            <a:r>
              <a:rPr lang="en-US" sz="1200" b="1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deque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先看数据范围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 O 忽略常数与低阶项；</a:t>
            </a:r>
            <a:r>
              <a:rPr lang="en-US" sz="12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先看数据范围，再定复杂度，最后想算法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常数优化的顺序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 IO → 减少重复计算 → 用内建函数。</a:t>
            </a:r>
            <a:r>
              <a:rPr lang="en-US" sz="12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复杂度不对时不要优化常数。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浮点开方会差 1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在大整数上边界要用整数校正，不能直接相信 </a:t>
            </a:r>
            <a:r>
              <a:rPr lang="en-US" sz="1200" b="1" dirty="0">
                <a:solidFill>
                  <a:srgbClr val="CFE0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** 0.5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月月考与阶段复习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第一次在机房环境下限时做题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月考样卷 6 题 / 112 分钟、考后订正方法、考场策略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10972</Words>
  <Application>WPS 演示</Application>
  <PresentationFormat>On-screen Show (16:9)</PresentationFormat>
  <Paragraphs>1212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4 周 计算机基础、Python 基础与算法分析入门</dc:title>
  <dc:creator>Hongfei Yan</dc:creator>
  <dc:subject>PptxGenJS Presentation</dc:subject>
  <cp:lastModifiedBy>zzr</cp:lastModifiedBy>
  <cp:revision>2</cp:revision>
  <dcterms:created xsi:type="dcterms:W3CDTF">2026-09-22T06:12:00Z</dcterms:created>
  <dcterms:modified xsi:type="dcterms:W3CDTF">2026-09-29T06:32:56Z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B926B168C7FA406E92C17A05DC57CF2F_13</vt:lpwstr>
  </property>
  <property fmtid="{D5CDD505-2E9C-101B-9397-08002B2CF9AE}" pid="3" name="KSOProductBuildVer">
    <vt:lpwstr>2052-12.1.0.29161</vt:lpwstr>
  </property>
</Properties>
</file>